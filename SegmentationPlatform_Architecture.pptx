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医学图像分割平台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架构设计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 Platform Architecture Design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2026-06-07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平台核心定位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3520440" y="2286000"/>
            <a:ext cx="2103120" cy="1280160"/>
          </a:xfrm>
          <a:prstGeom prst="ellipse">
            <a:avLst/>
          </a:prstGeom>
          <a:solidFill>
            <a:srgbClr val="1A2744"/>
          </a:solidFill>
          <a:ln/>
        </p:spPr>
      </p:sp>
      <p:sp>
        <p:nvSpPr>
          <p:cNvPr id="5" name="Text 3"/>
          <p:cNvSpPr/>
          <p:nvPr/>
        </p:nvSpPr>
        <p:spPr>
          <a:xfrm>
            <a:off x="3520440" y="22860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数据关系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520440" y="2743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平台中心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069080" y="320040"/>
            <a:ext cx="100584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069080" y="3200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病例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0" y="2258568"/>
            <a:ext cx="0" cy="-1618488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128003" y="1417320"/>
            <a:ext cx="100584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28003" y="141732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图像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506434" y="2592324"/>
            <a:ext cx="1124489" cy="-854964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048814" y="3749040"/>
            <a:ext cx="100584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48814" y="37490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标签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506434" y="3259836"/>
            <a:ext cx="1045300" cy="809244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4069080" y="4800600"/>
            <a:ext cx="100584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069080" y="48006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训练任务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0" y="3593592"/>
            <a:ext cx="0" cy="1527048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010157" y="3794760"/>
            <a:ext cx="100584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010157" y="379476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模型版本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37566" y="3259836"/>
            <a:ext cx="-1124489" cy="854964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54864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平台中心不是某个训练框架或标注软件，而是数据对象之间的关系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三大实现域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97280"/>
            <a:ext cx="27889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54864" cy="32918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188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标注域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691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标签生产与安全导回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导出 Case Package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Mimics 人工修正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几何校验 + 注册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7889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1097280"/>
            <a:ext cx="54864" cy="32918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188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训练域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66160" y="1691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任务消费标签产出模型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66160" y="201168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TaskLabelMap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Snapshot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nnUNet Adapter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Record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1097280"/>
            <a:ext cx="27889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097280"/>
            <a:ext cx="54864" cy="32918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188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label_generation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标签生成域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46520" y="1691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候选标签生成筛选回流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46520" y="201168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candidate_label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accepted_pseudo_label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QC + 准入策略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离线批量推理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三个域按「三种不同责任」划分，不是按 pipeline 顺序划分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闭环流程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3886200" y="77724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886200" y="77724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病例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858000" y="77724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0" y="77724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标签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来源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863840" y="210312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863840" y="210312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863840" y="338328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863840" y="338328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数据集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快照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58000" y="457200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0" y="45720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457200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886200" y="45720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14400" y="338328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38328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批量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推理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14400" y="210312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14400" y="210312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候选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标签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74920" y="1005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360920" y="11887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635240" y="27432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269480" y="41148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074920" y="4800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2103120" y="41148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27432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371600" y="11887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286000" y="1005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274320" y="1463040"/>
            <a:ext cx="2468880" cy="2011680"/>
          </a:xfrm>
          <a:prstGeom prst="roundRect">
            <a:avLst>
              <a:gd name="adj" fmla="val 4545"/>
            </a:avLst>
          </a:prstGeom>
          <a:solidFill>
            <a:srgbClr val="000000">
              <a:alpha val="5000"/>
            </a:srgbClr>
          </a:solidFill>
          <a:ln w="12700">
            <a:solidFill>
              <a:srgbClr val="F59E0B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274320" y="2194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label_generation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583680" y="1463040"/>
            <a:ext cx="2468880" cy="2011680"/>
          </a:xfrm>
          <a:prstGeom prst="roundRect">
            <a:avLst>
              <a:gd name="adj" fmla="val 4545"/>
            </a:avLst>
          </a:prstGeom>
          <a:solidFill>
            <a:srgbClr val="000000">
              <a:alpha val="5000"/>
            </a:srgbClr>
          </a:solidFill>
          <a:ln w="12700">
            <a:solidFill>
              <a:srgbClr val="0891B2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6583680" y="2194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labeling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029200" y="3474720"/>
            <a:ext cx="3840480" cy="1828800"/>
          </a:xfrm>
          <a:prstGeom prst="roundRect">
            <a:avLst>
              <a:gd name="adj" fmla="val 5000"/>
            </a:avLst>
          </a:prstGeom>
          <a:solidFill>
            <a:srgbClr val="000000">
              <a:alpha val="5000"/>
            </a:srgbClr>
          </a:solidFill>
          <a:ln w="12700">
            <a:solidFill>
              <a:srgbClr val="0D9488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5029200" y="4114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六种标签状态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188720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1887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数据集标签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920240" y="1188720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0240" y="11887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算法输出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1920240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" y="192024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source_label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1920240" y="1920240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920240" y="192024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candidate_label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3657600" y="2743200"/>
            <a:ext cx="9144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6B6D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57600" y="2743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draft_label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4846320" y="2743200"/>
            <a:ext cx="960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846320" y="274320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accepted_pseudo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035040" y="2743200"/>
            <a:ext cx="960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035040" y="274320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verified_label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7223760" y="2743200"/>
            <a:ext cx="9144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F444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223760" y="2743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rejected_label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85800" y="1691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240280" y="1691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560320" y="2423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QC→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3291840" y="2423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修正→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760720" y="2423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失败→</a:t>
            </a:r>
            <a:endParaRPr lang="en-US" sz="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65760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7548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含义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默认可训练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source_label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外部数据集自带标签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由来源质量决定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candidate_label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模型/算法生成候选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默认否，策略可纳入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draft_label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给人修正的草稿起点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accepted_pseudo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策略准入的伪标签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由任务策略决定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verified_label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人工确认标签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是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rejected_label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判定不可用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三层 Label Map 设计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05840"/>
            <a:ext cx="27889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05840"/>
            <a:ext cx="54864" cy="18288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972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anatomy_vocabulary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828800" y="1078992"/>
            <a:ext cx="914400" cy="256032"/>
          </a:xfrm>
          <a:prstGeom prst="roundRect">
            <a:avLst>
              <a:gd name="adj" fmla="val 17857"/>
            </a:avLst>
          </a:prstGeom>
          <a:solidFill>
            <a:srgbClr val="E0F2FE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10789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平台语义层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85800" y="1417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这是什么器官？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17373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liver = 肝脏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纯语义，无数字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005840"/>
            <a:ext cx="27889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46120" y="1005840"/>
            <a:ext cx="54864" cy="1828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3429000" y="10972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review_label_map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09160" y="1078992"/>
            <a:ext cx="914400" cy="256032"/>
          </a:xfrm>
          <a:prstGeom prst="roundRect">
            <a:avLst>
              <a:gd name="adj" fmla="val 17857"/>
            </a:avLst>
          </a:prstGeom>
          <a:solidFill>
            <a:srgbClr val="E0F2FE"/>
          </a:solidFill>
          <a:ln/>
        </p:spPr>
      </p:sp>
      <p:sp>
        <p:nvSpPr>
          <p:cNvPr id="15" name="Text 13"/>
          <p:cNvSpPr/>
          <p:nvPr/>
        </p:nvSpPr>
        <p:spPr>
          <a:xfrm>
            <a:off x="4709160" y="10789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标注工具层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566160" y="1417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工具里是几号？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66160" y="17373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liver = 10 (Mimics)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受标注软件限制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26480" y="1005840"/>
            <a:ext cx="27889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26480" y="1005840"/>
            <a:ext cx="54864" cy="18288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0972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task_label_maps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589520" y="1078992"/>
            <a:ext cx="914400" cy="256032"/>
          </a:xfrm>
          <a:prstGeom prst="roundRect">
            <a:avLst>
              <a:gd name="adj" fmla="val 17857"/>
            </a:avLst>
          </a:prstGeom>
          <a:solidFill>
            <a:srgbClr val="E0F2FE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10789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训练框架层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46520" y="1417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训练时是几号？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46520" y="17373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liver = 2 (CT5_Liver)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nnUNet 要求连续整数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108960"/>
            <a:ext cx="8412480" cy="731520"/>
          </a:xfrm>
          <a:prstGeom prst="rect">
            <a:avLst/>
          </a:prstGeom>
          <a:solidFill>
            <a:srgbClr val="E0F2FE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2004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核心原则：同一个 liver 在 review 文件里是 10，在 CT5_Liver 任务里是 2，在 CT_Combine 里是 37。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这不是数字冲突，而是不同层级的编号体系。每一层不能合并——因为约束来源不同。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02336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66928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尝试合并方案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后果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anatomy + review 合并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换标注工具就要改器官名称表（如 Mimics→3D Slicer）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 + task 合并（最诱人）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同一器官在不同任务编号不同，没有唯一编号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全合并成一张表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修改训练编号会连带影响标注工具，两个方向的约束互相拉扯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Package 契约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05840"/>
            <a:ext cx="3840480" cy="4023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97280"/>
            <a:ext cx="3657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case_package/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manifest.json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images/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image.nii.gz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dicom/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labels/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draft_label.nii.gz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verified_label.nii.gz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masks/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config/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reports/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provenance/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0" y="10058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Manifest 必填字段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417320"/>
          <a:ext cx="4206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377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用途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package_id / case_id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包与病例唯一标识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image.sha256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图像文件指纹，导回时防篡改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image.shape / spacing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几何元数据，导回时校验对齐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label_policy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标签准入规则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review.tool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标注工具标识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0" y="3200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校验规则</a:t>
            </a:r>
            <a:endParaRPr lang="en-US" sz="13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3566160"/>
          <a:ext cx="4206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校验项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级别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图像 hash 不一致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🔴 Error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标签 shape 不一致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🔴 Error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spacing/affine 不一致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 自动修复后通过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 id 不合法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🔴 Error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只有 draft 没有 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 Warning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训练管线 — nnUNet 五阶段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0584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A2744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005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Config.toml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468880" y="100584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2468880" y="1005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ModelMap.toml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7280" y="1417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1417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691640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916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AutoSegmentationFramework（编排器）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514600"/>
            <a:ext cx="15087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" y="25603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数据转换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31089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标注数据→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nnUNet格式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重采样+合并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920240" y="2514600"/>
            <a:ext cx="15087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920240" y="25603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Action2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预处理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11680" y="31089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指纹提取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实验规划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参数覆盖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566160" y="2514600"/>
            <a:ext cx="15087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566160" y="25603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Action3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0" y="31089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GPU管理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5折交叉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DDP支持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212080" y="2514600"/>
            <a:ext cx="15087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212080" y="25603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Action4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推理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303520" y="31089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预插值加速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多模型共享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跨平台适配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858000" y="2514600"/>
            <a:ext cx="15087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858000" y="25603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Action5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评估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949440" y="31089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Dice/Surface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多格式报告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多模型聚合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783080" y="28346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429000" y="28346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074920" y="28346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720840" y="28346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65760" y="40233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ModelMap.toml 已是 TaskLabelMap 雏形：每个模型独立从 1 编号，CT_Combine/MR_Combine 只用于拼接展示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42976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支持扁平格式（细粒度）和分组格式（粗分割），粗分割通过分组格式自然表达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4663440"/>
            <a:ext cx="8412480" cy="365760"/>
          </a:xfrm>
          <a:prstGeom prst="rect">
            <a:avLst/>
          </a:prstGeom>
          <a:solidFill>
            <a:srgbClr val="E0F2FE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46634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 GPU 调度：不同 GPU 并行 + 同 GPU 串行 → 自动生成 gpu{0,1,2,3}.sh 脚本，避免显存冲突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 架构 — 可扩展性核心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0" y="1005840"/>
            <a:ext cx="2743200" cy="548640"/>
          </a:xfrm>
          <a:prstGeom prst="roundRect">
            <a:avLst>
              <a:gd name="adj" fmla="val 13333"/>
            </a:avLst>
          </a:prstGeom>
          <a:solidFill>
            <a:srgbClr val="1A2744"/>
          </a:solidFill>
          <a:ln/>
        </p:spPr>
      </p:sp>
      <p:sp>
        <p:nvSpPr>
          <p:cNvPr id="5" name="Text 3"/>
          <p:cNvSpPr/>
          <p:nvPr/>
        </p:nvSpPr>
        <p:spPr>
          <a:xfrm>
            <a:off x="3200400" y="10058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Snapshot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（冻结的数据视图）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89120" y="15087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8288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nnUNet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74320" y="23317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全监督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生产级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325880" y="1783080"/>
            <a:ext cx="621792" cy="256032"/>
          </a:xfrm>
          <a:prstGeom prst="roundRect">
            <a:avLst>
              <a:gd name="adj" fmla="val 17857"/>
            </a:avLst>
          </a:prstGeom>
          <a:solidFill>
            <a:srgbClr val="E0F2FE"/>
          </a:solidFill>
          <a:ln/>
        </p:spPr>
      </p:sp>
      <p:sp>
        <p:nvSpPr>
          <p:cNvPr id="11" name="Text 9"/>
          <p:cNvSpPr/>
          <p:nvPr/>
        </p:nvSpPr>
        <p:spPr>
          <a:xfrm>
            <a:off x="1325880" y="1783080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已完成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331720" y="18288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331720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FewShot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331720" y="23317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少样本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预训练+微调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383280" y="1783080"/>
            <a:ext cx="768096" cy="256032"/>
          </a:xfrm>
          <a:prstGeom prst="roundRect">
            <a:avLst>
              <a:gd name="adj" fmla="val 17857"/>
            </a:avLst>
          </a:prstGeom>
          <a:solidFill>
            <a:srgbClr val="E0F2FE"/>
          </a:solidFill>
          <a:ln/>
        </p:spPr>
      </p:sp>
      <p:sp>
        <p:nvSpPr>
          <p:cNvPr id="16" name="Text 14"/>
          <p:cNvSpPr/>
          <p:nvPr/>
        </p:nvSpPr>
        <p:spPr>
          <a:xfrm>
            <a:off x="3383280" y="1783080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架构已定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389120" y="18288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389120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MONAI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89120" y="23317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440680" y="1783080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E0F2FE"/>
          </a:solidFill>
          <a:ln/>
        </p:spPr>
      </p:sp>
      <p:sp>
        <p:nvSpPr>
          <p:cNvPr id="21" name="Text 19"/>
          <p:cNvSpPr/>
          <p:nvPr/>
        </p:nvSpPr>
        <p:spPr>
          <a:xfrm>
            <a:off x="5440680" y="1783080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446520" y="18288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46520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其他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46520" y="23317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SAM/新框架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498080" y="1783080"/>
            <a:ext cx="621792" cy="256032"/>
          </a:xfrm>
          <a:prstGeom prst="roundRect">
            <a:avLst>
              <a:gd name="adj" fmla="val 17857"/>
            </a:avLst>
          </a:prstGeom>
          <a:solidFill>
            <a:srgbClr val="E0F2FE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0" y="1783080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可扩展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05840" y="2788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11480" y="3063240"/>
            <a:ext cx="1645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1148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Record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063240" y="2788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468880" y="3063240"/>
            <a:ext cx="1645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246888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Record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120640" y="2788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26280" y="3063240"/>
            <a:ext cx="1645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52628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Record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178040" y="2788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583680" y="3063240"/>
            <a:ext cx="1645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58368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Record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65760" y="3840480"/>
            <a:ext cx="8412480" cy="1097280"/>
          </a:xfrm>
          <a:prstGeom prst="rect">
            <a:avLst/>
          </a:prstGeom>
          <a:solidFill>
            <a:srgbClr val="E0F2FE"/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" y="39319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369A1"/>
                </a:solidFill>
              </a:rPr>
              <a:t>架构核心原则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0369A1"/>
                </a:solidFill>
              </a:rPr>
              <a:t>不变层（数据契约）：Case / Image Artifact / Label Artifact / Dataset Snapshot / label_policy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0369A1"/>
                </a:solidFill>
              </a:rPr>
              <a:t>可变层（Adapter 封装）：nnUNet / MONAI / FewShot / SAM / ...</a:t>
            </a:r>
            <a:endParaRPr lang="en-US" sz="13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369A1"/>
                </a:solidFill>
              </a:rPr>
              <a:t>新框架 = 新 Adapter，不改数据契约。就像 USB 协议：设备可换，接口不变。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少样本学习 — FewShot Adapter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0584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1A2744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0058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Snapshot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27432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828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nnUNet Adapter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全监督训练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生产级 · 已完成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3291840"/>
            <a:ext cx="27432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FewShot Adapter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少样本训练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架构已定 · 待生产级验证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508760" y="14630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508760" y="2926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0" y="1005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生产级实验协议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146304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3749040" y="1463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114800" y="14630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选定器官 → 选出 verified 病例 → 患者级别冻结划分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749040" y="192024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9" name="Text 17"/>
          <p:cNvSpPr/>
          <p:nvPr/>
        </p:nvSpPr>
        <p:spPr>
          <a:xfrm>
            <a:off x="3749040" y="1920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14800" y="1920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构建 N-shot Snapshot（N=1,3,5,10,20）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749040" y="237744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2" name="Text 20"/>
          <p:cNvSpPr/>
          <p:nvPr/>
        </p:nvSpPr>
        <p:spPr>
          <a:xfrm>
            <a:off x="374904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114800" y="23774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三对照组：A. nnUNet全监督上界 / B. 同数据量基线 / C. 预训练+微调实验组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749040" y="283464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/>
          <p:nvPr/>
        </p:nvSpPr>
        <p:spPr>
          <a:xfrm>
            <a:off x="3749040" y="2834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114800" y="28346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冻结测试集上计算 Dice、Surface Dice、Hausdorff Distance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749040" y="329184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/>
          <p:nvPr/>
        </p:nvSpPr>
        <p:spPr>
          <a:xfrm>
            <a:off x="374904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114800" y="32918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结果登记 Model Registry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0" y="3840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生产级准入标准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0" y="420624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条件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说明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次独立复现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每个器官不能只跑一次效果好就宣布成功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Dice ≥ 全监督 90%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冻结评估集上，少样本不低于全监督 Dice 的 90%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跨扫描协议 ≤ 0.05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不同医院/CT 的 Dice 最大差距不超过 0.05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失败率 &lt; 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Dice &lt; 0.3 的病例占比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Mimics 集成方案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005840"/>
            <a:ext cx="1645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1A274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0058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平台侧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split/merge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468880" y="1005840"/>
            <a:ext cx="1645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10058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1005840"/>
            <a:ext cx="1645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63440" y="10058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Mimics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set_voxel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_buffer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858000" y="1005840"/>
            <a:ext cx="1645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EF444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0" y="10058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修正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20240" y="1143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114800" y="1143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09360" y="1143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760" y="20116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 API（已确认）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7744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47472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用途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来源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mimics.data.masks.find(name=...)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查找指定名称的 Mask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社区代码片段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mask.get_voxel_buffer()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获取 Mask 体素数据（numpy 数组）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社区代码片段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mask.set_voxel_buffer(arr)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导入外部 numpy 数组到 Mask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Materialise 员工确认 (2023)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NIfTI 导入导出 (GUI)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 原生功能，替代脚本手动写 affine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官方产品更新页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Scripting Guide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完整 API 文档（Help → Scripting Guide）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内置在 Mimics 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365760" y="40233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风险与应对</a:t>
            </a:r>
            <a:endParaRPr lang="en-US" sz="14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389120"/>
          <a:ext cx="84124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926080"/>
                <a:gridCol w="2926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影响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应对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set_voxel_buffer 空间对齐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标签与 CT 错位 → 训练数据污染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check_geometry.py 检测 + 修复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Scripting Guide API 不足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自动化程度降低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GUI 手动操作 + 平台脚本补偿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Mimics 完全不可用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标注流程受阻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切换 3D Slicer / ITK-SNAP 备选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分阶段实施路线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011680"/>
                <a:gridCol w="4114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D94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9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文件包闭环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9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一个病例从候选标签到人工保存，再进入训练快照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9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👈 当前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9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注册中心 + 快照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Registry、Dataset Snapshot → 同一套数据多任务复用，训练可复现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369A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设计已定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Adapter 稳定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nnUNet Adapter 先跑通，预留 MONAI/FewShot 接口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369A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设计已定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离线批量推理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模型版本 + 批量任务 + 候选标签回流 → 闭环运转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后期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统一调度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UI、任务队列、权限、审计 → 数据契约稳定后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后期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39776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当前阶段（A）具体任务</a:t>
            </a:r>
            <a:endParaRPr lang="en-US" sz="14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343400"/>
          <a:ext cx="841248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6576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任务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scripts/split_multilabel_to_masks.py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待实现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scripts/merge_masks_to_multilabel.py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待实现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scripts/check_geometry.py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待实现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scripts/package_case.py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待实现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scripts/hash_package.py / check_case_package.py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65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已完成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已确认的关键决策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97280"/>
            <a:ext cx="73152" cy="43891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伪标签准入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560320" y="1097280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默认允许 accepted_pseudo_label 进入训练。取决于器官/任务/模型，默认允许 + 特定排除，而非默认禁止 + 逐项审批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645920"/>
            <a:ext cx="73152" cy="43891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器官范围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60320" y="1645920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第一阶段 = v500 所有模型（CT1-16、MR1-8），涵盖全身多处器官，不缩小范围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" y="2194560"/>
            <a:ext cx="73152" cy="43891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19456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全身模型方案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560320" y="2194560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保持现状：多模型组合（每个子模型独立从 1 编号），后期有条件再实验统一模型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2743200"/>
            <a:ext cx="73152" cy="43891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74320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Mimics POC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2743200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先做调研和准备工作（Scripting Guide API 验证），确认后再启动 POC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73152" cy="43891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2918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联合学习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560320" y="3291840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少样本学习 = training 域新 Adapter，与 nnUNet Adapter 平级，需先过生产级实验协议验证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5760" y="3840480"/>
            <a:ext cx="73152" cy="438912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84048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label_policy 设计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560320" y="3840480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candidate_label 可通过 allow_status 直接纳入训练，核心原则：provenance 永不造假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65760" y="4389120"/>
            <a:ext cx="73152" cy="438912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38912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Registry + Snapshot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560320" y="4389120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先不实现但必须记住——这是可追溯和可插拔的前提。手动闭环跑通后再补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实现前待确认清单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阻塞项（必须确认才能开始）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4124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21208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Mimics 版本 + 许可证类型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❓ 未确认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Scripting Guide 中 mask 相关 API 清单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❓ 需在 Mimics Help 中查看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Mimics 能否运行 Python 脚本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❓ 取决于许可证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第一批 3-5 个病例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❓ 领导确认数据不是瓶颈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训练服务器环境（GPU、路径）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❓ 未确认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108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非阻塞项（可立即实现）</a:t>
            </a:r>
            <a:endParaRPr lang="en-US" sz="14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429000"/>
          <a:ext cx="84124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65760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用途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split_multilabel_to_masks.py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多标签 NIfTI → 逐器官二值 mask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merge_masks_to_multilabel.py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逐器官 mask → 多标签 NIfTI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check_geometry.py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shape/spacing/affine 校验 + 自动修复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package_case.py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生成 Case Package 目录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import_case_package.py (Mimics)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读 masks → numpy → set_voxel_buffer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export_review_package.py (Mimics)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get_voxel_buffer → numpy → masks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时间估算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2651760" cy="25603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234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一切顺利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3-4 周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2377440"/>
            <a:ext cx="1737360" cy="2743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2560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A1-A3 秒确认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全有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几何无问题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097280"/>
            <a:ext cx="2651760" cy="25603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1234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91840" y="1691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5-6 周</a:t>
            </a:r>
            <a:endParaRPr lang="en-US" sz="3200" dirty="0"/>
          </a:p>
        </p:txBody>
      </p:sp>
      <p:sp>
        <p:nvSpPr>
          <p:cNvPr id="12" name="Shape 10"/>
          <p:cNvSpPr/>
          <p:nvPr/>
        </p:nvSpPr>
        <p:spPr>
          <a:xfrm>
            <a:off x="3749040" y="2377440"/>
            <a:ext cx="1737360" cy="274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3291840" y="2560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 Mimics 弯路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轮调试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几何对齐需微调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1097280"/>
            <a:ext cx="2651760" cy="25603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234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Mimics API 受限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17920" y="1691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+2-3 周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75120" y="2377440"/>
            <a:ext cx="1737360" cy="2743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2560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降级为 GUI 手动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或切换到 3D Slicer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额外的工具适配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840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工作量拆解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16052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4688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工时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信心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平台脚本（B1-B4）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4-5 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 — 纯 numpy/nibabel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Mimics Adapter（B5-B6）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乐观 2 天 / 悲观 2 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中低 — 依赖 A1-A3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闭环测试 + 调试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 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 病例验证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548640" y="489204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最大减速带不是代码量，是 Mimics 确认和几何对齐调试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医学图像分割平台架构设计</dc:title>
  <dc:subject>PptxGenJS Presentation</dc:subject>
  <dc:creator>ShijianRuan</dc:creator>
  <cp:lastModifiedBy>ShijianRuan</cp:lastModifiedBy>
  <cp:revision>1</cp:revision>
  <dcterms:created xsi:type="dcterms:W3CDTF">2026-06-07T14:28:17Z</dcterms:created>
  <dcterms:modified xsi:type="dcterms:W3CDTF">2026-06-07T14:28:17Z</dcterms:modified>
</cp:coreProperties>
</file>