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医学图像分割平台架构设计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834640"/>
            <a:ext cx="393192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Arial"/>
              </a:defRPr>
            </a:pPr>
            <a:r>
              <a:t>Segmentation Platform Architecture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平台核心定位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116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8288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病例</a:t>
            </a:r>
            <a:br/>
            <a: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6517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284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45920"/>
            <a:ext cx="20116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83080"/>
            <a:ext cx="18288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图像</a:t>
            </a:r>
            <a:br/>
            <a:r>
              <a:t>Image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517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284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645920"/>
            <a:ext cx="20116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783080"/>
            <a:ext cx="18288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标签</a:t>
            </a:r>
            <a:br/>
            <a:r>
              <a:t>Label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6517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284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645920"/>
            <a:ext cx="20116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783080"/>
            <a:ext cx="18288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训练任务</a:t>
            </a:r>
            <a:br/>
            <a: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6517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284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645920"/>
            <a:ext cx="20116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783080"/>
            <a:ext cx="18288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模型版本</a:t>
            </a:r>
            <a:br/>
            <a:r>
              <a:t>Model Record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10698480" cy="11887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300"/>
              </a:lnSpc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t>平台中心 ≠ 某个训练框架或标注软件</a:t>
            </a:r>
          </a:p>
          <a:p>
            <a:pPr>
              <a:lnSpc>
                <a:spcPts val="700"/>
              </a:lnSpc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E293B"/>
                </a:solidFill>
                <a:latin typeface="Arial"/>
              </a:defRPr>
            </a:pPr>
          </a:p>
          <a:p>
            <a:pPr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平台中心 = 病例、图像、标签、训练任务、模型版本之间的关系</a:t>
            </a:r>
          </a:p>
          <a:p>
            <a:pPr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标注、训练、伪标签、离线推理都围绕这些关系发生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三大实现域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按「不同责任」划分，不是按 pipeline 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74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73152" cy="457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labeling  标注域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75569"/>
                </a:solidFill>
                <a:latin typeface="Arial"/>
              </a:defRPr>
            </a:pPr>
            <a:r>
              <a:t>标签生产与安全导回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31546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导出 Case Package</a:t>
            </a:r>
            <a:br/>
            <a:r>
              <a:t>Mimics 修正 + 保存</a:t>
            </a:r>
            <a:br/>
            <a:r>
              <a:t>几何校验</a:t>
            </a:r>
            <a:br/>
            <a:r>
              <a:t>注册 verified_label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63040"/>
            <a:ext cx="3474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73152" cy="457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training  训练域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75569"/>
                </a:solidFill>
                <a:latin typeface="Arial"/>
              </a:defRPr>
            </a:pPr>
            <a:r>
              <a:t>任务消费标签→产出模型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60320"/>
            <a:ext cx="31546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TaskLabelMap</a:t>
            </a:r>
            <a:br/>
            <a:r>
              <a:t>Dataset Snapshot</a:t>
            </a:r>
            <a:br/>
            <a:r>
              <a:t>nnUNet Adapter</a:t>
            </a:r>
            <a:br/>
            <a:r>
              <a:t>Model Record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4747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7315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20"/>
            <a:ext cx="3154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label_generation  标签生成域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0312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75569"/>
                </a:solidFill>
                <a:latin typeface="Arial"/>
              </a:defRPr>
            </a:pPr>
            <a:r>
              <a:t>候选标签生成与回流治理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60320"/>
            <a:ext cx="31546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公开算法 / 自训模型推理</a:t>
            </a:r>
            <a:br/>
            <a:r>
              <a:t>candidate_label</a:t>
            </a:r>
            <a:br/>
            <a:r>
              <a:t>QC + 准入策略</a:t>
            </a:r>
            <a:br/>
            <a:r>
              <a:t>回流到标注或训练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闭环流程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病例数据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4630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50876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标签来源</a:t>
            </a:r>
            <a:br/>
            <a:r>
              <a:t>(人工/模型/算法)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630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50876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标注审核</a:t>
            </a:r>
            <a:br/>
            <a:r>
              <a:t>(labeling)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4630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50876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数据集快照</a:t>
            </a:r>
            <a:br/>
            <a:r>
              <a:t>(Dataset Snapshot)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42062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25196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候选标签</a:t>
            </a:r>
            <a:br/>
            <a:r>
              <a:t>(label_generation)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5196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批量推理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2062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25196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模型</a:t>
            </a:r>
            <a:br/>
            <a:r>
              <a:t>(Model Record)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训练</a:t>
            </a:r>
            <a:br/>
            <a:r>
              <a:t>(training)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六种标签状态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状态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含义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默认可训练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source_label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外部数据集自带标签，未经平台判断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视来源质量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candidate_label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模型/算法生成候选结果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默认否，策略可纳入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draft_label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专门准备给人修正的起点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否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accepted_pseudo_label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经 QC + 策略接受的伪标签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任务策略决定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verified_label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人工确认标签（单人保存即 verified）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是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rejected_label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已判定不可用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否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标签状态转换</a:t>
            </a:r>
          </a:p>
          <a:p>
            <a:pPr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source_label → verified_label（可信源直接确认）</a:t>
            </a:r>
          </a:p>
          <a:p>
            <a:pPr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candidate_label → draft_label → 人工修正 → verified_label</a:t>
            </a:r>
          </a:p>
          <a:p>
            <a:pPr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candidate_label →（QC 通过）→ accepted_pseudo_label</a:t>
            </a:r>
          </a:p>
          <a:p>
            <a:pPr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candidate_label →（QC 失败）→ rejected_label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三层 Label Map 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430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层级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回答什么问题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约束来源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liver 的编号示例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anatomy_vocabulary （语义层）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这是什么器官？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无约束，纯名称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liver = 肝脏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review_label_map （工具层）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工具里是几号？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标注软件限制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liver = 10（Mimics）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task_label_maps （训练层）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训练时是几号？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nnUNet 要求连续整数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liver = 2（CT5_Liver）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931920"/>
          <a:ext cx="11430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772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尝试合并方案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为什么不行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合并 anatomy + review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换标注工具就要改器官名称表（如 Mimics → 3D Slicer）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合并 review + task（最诱人）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同一 liver 在不同任务编号不同 (2 vs 5 vs 37)，没有唯一编号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全合并成一张表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语义层、工具层、训练层的约束来源各不相同，修改互相拉扯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Case Package 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标注工具与平台之间的离线文件交换标准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572000" cy="2743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1148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case_package/</a:t>
            </a:r>
          </a:p>
          <a:p>
            <a:pPr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├── manifest.json（sha256 / shape / spacing）</a:t>
            </a:r>
          </a:p>
          <a:p>
            <a:pPr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├── images/image.nii.gz</a:t>
            </a:r>
          </a:p>
          <a:p>
            <a:pPr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├── labels/</a:t>
            </a:r>
          </a:p>
          <a:p>
            <a:pPr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│   ├── draft_label.nii.gz</a:t>
            </a:r>
          </a:p>
          <a:p>
            <a:pPr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059669"/>
                </a:solidFill>
                <a:latin typeface="Arial"/>
              </a:defRPr>
            </a:pPr>
            <a:r>
              <a:t>│   ├── verified_label.nii.gz</a:t>
            </a:r>
          </a:p>
          <a:p>
            <a:pPr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│   └── masks/{liver, kidney...}.nii.gz</a:t>
            </a:r>
          </a:p>
          <a:p>
            <a:pPr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├── config/{anatomy_vocabulary, review_label_map}.yaml</a:t>
            </a:r>
          </a:p>
          <a:p>
            <a:pPr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├── reports/{geometry_check, review_report}.json</a:t>
            </a:r>
          </a:p>
          <a:p>
            <a:pPr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└── provenance/{source_labels, tool_export}.json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0" y="1463040"/>
          <a:ext cx="6400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校验规则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级别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处理方式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图像 sha256 不一致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Error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拒绝导入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标签 shape 不一致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Error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不可修复，拒绝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spacing/affine 不一致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Warning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check_geometry.py 自动修复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label id 不合法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Error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拒绝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只有 draft 无 verified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Warning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标记，不阻塞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一个病例一个包，自包含可搬运。nnUNet 不直接读 Case Package → 经 Data Registry + Snapshot 导出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训练管线 — nnUNet 五阶段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057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874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Action1</a:t>
            </a:r>
            <a:br/>
            <a:r>
              <a:t>数据转换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8745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569"/>
                </a:solidFill>
                <a:latin typeface="Arial"/>
              </a:defRPr>
            </a:pPr>
            <a:r>
              <a:t>标注数据→nnUNet格式</a:t>
            </a:r>
            <a:br/>
            <a:r>
              <a:t>重采样+合并+划分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6596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284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63040"/>
            <a:ext cx="2057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554480"/>
            <a:ext cx="1874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Action2</a:t>
            </a:r>
            <a:br/>
            <a:r>
              <a:t>预处理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48840"/>
            <a:ext cx="18745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569"/>
                </a:solidFill>
                <a:latin typeface="Arial"/>
              </a:defRPr>
            </a:pPr>
            <a:r>
              <a:t>指纹提取+实验规划</a:t>
            </a:r>
            <a:br/>
            <a:r>
              <a:t>支持手动覆盖参数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6596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284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463040"/>
            <a:ext cx="2057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554480"/>
            <a:ext cx="1874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Action3</a:t>
            </a:r>
            <a:br/>
            <a:r>
              <a:t>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48840"/>
            <a:ext cx="18745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569"/>
                </a:solidFill>
                <a:latin typeface="Arial"/>
              </a:defRPr>
            </a:pPr>
            <a:r>
              <a:t>GPU 管理+5折交叉</a:t>
            </a:r>
            <a:br/>
            <a:r>
              <a:t>DDP 多卡支持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96596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284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463040"/>
            <a:ext cx="2057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54480"/>
            <a:ext cx="1874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Action4</a:t>
            </a:r>
            <a:br/>
            <a:r>
              <a:t>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48840"/>
            <a:ext cx="18745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569"/>
                </a:solidFill>
                <a:latin typeface="Arial"/>
              </a:defRPr>
            </a:pPr>
            <a:r>
              <a:t>预插值加速</a:t>
            </a:r>
            <a:br/>
            <a:r>
              <a:t>多模型共享分辨率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284C7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463040"/>
            <a:ext cx="2057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554480"/>
            <a:ext cx="1874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Action5</a:t>
            </a:r>
            <a:br/>
            <a:r>
              <a:t>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148840"/>
            <a:ext cx="18745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569"/>
                </a:solidFill>
                <a:latin typeface="Arial"/>
              </a:defRPr>
            </a:pPr>
            <a:r>
              <a:t>Dice+Surface Dice</a:t>
            </a:r>
            <a:br/>
            <a:r>
              <a:t>多格式报告+聚合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Config.toml + ModelMap.toml → AutoSegmentationFramework（编排器）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576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ModelMap.toml 已是 TaskLabelMap 雏形 — 每模型独立从 1 编号。支持扁平格式（细粒度）和分组格式（粗分割）</a:t>
            </a:r>
            <a:br/>
            <a:r>
              <a:t>多 GPU 调度：不同 GPU 并行 + 同 GPU 串行 → 自动生成 gpu{0,1,2,3}.sh 脚本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Adapter 架构 — 可扩展性核心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137160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Dataset Snapshot（冻结的数据视图）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nnUNet Adapter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全监督训练</a:t>
            </a:r>
            <a:br/>
            <a:r>
              <a:t>生产级 · 已完成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19456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FewShot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预训练 + 微调</a:t>
            </a:r>
            <a:br/>
            <a:r>
              <a:t>架构已定 · 待验证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MONAI 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8892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Transformer 模型</a:t>
            </a:r>
            <a:br/>
            <a:r>
              <a:t>预留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219456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其他 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78892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569"/>
                </a:solidFill>
                <a:latin typeface="Arial"/>
              </a:defRPr>
            </a:pPr>
            <a:r>
              <a:t>SAM / 新框架</a:t>
            </a:r>
            <a:br/>
            <a:r>
              <a:t>可扩展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1069848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0284C7"/>
                </a:solidFill>
                <a:latin typeface="Arial"/>
              </a:defRPr>
            </a:pPr>
            <a:r>
              <a:t>不变层（数据契约）</a:t>
            </a:r>
          </a:p>
          <a:p>
            <a:pPr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t>Case / Image Artifact / Label Artifact / Dataset Snapshot / label_policy</a:t>
            </a:r>
          </a:p>
          <a:p>
            <a:pPr>
              <a:lnSpc>
                <a:spcPts val="700"/>
              </a:lnSpc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E293B"/>
                </a:solidFill>
                <a:latin typeface="Arial"/>
              </a:defRPr>
            </a:pPr>
          </a:p>
          <a:p>
            <a:pPr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可变层（Adapter 封装）</a:t>
            </a:r>
          </a:p>
          <a:p>
            <a:pPr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t>nnUNet / MONAI / FewShot / SAM / ...</a:t>
            </a:r>
          </a:p>
          <a:p>
            <a:pPr>
              <a:lnSpc>
                <a:spcPts val="700"/>
              </a:lnSpc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E293B"/>
                </a:solidFill>
                <a:latin typeface="Arial"/>
              </a:defRPr>
            </a:pPr>
          </a:p>
          <a:p>
            <a:pPr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Arial"/>
              </a:defRPr>
            </a:pPr>
            <a:r>
              <a:t>新框架 = 新 Adapter，不动数据契约。USB 协议：设备可换，接口不变。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少样本学习 — FewShot Adapter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430000" cy="38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架构定位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training 域新 Adapter，与 nnUNet Adapter 平级。先通过实验协议验证 → 升级为正式 Adapter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143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实验协议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说明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 选定器官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从 Registry 选出 verified_label 病例，患者级别冻结划分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2. N-shot Snapshot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构建 N=1/3/5/10/20 的快照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3. 三对照组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A. 全监督上界 / B. 同数据量基线 / C. 预训练+微调实验组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4. 冻结评估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冻结测试集上计算 Dice, Surface Dice, Hausdorff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 登记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Model Registry 记录 N、器官、标签状态、数据版本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029200"/>
          <a:ext cx="7315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准入标准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阈值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独立复现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每器官 ≥ 3 次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Dice vs 全监督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≥ 全监督的 90%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跨扫描协议差距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≤ 0.05 Dice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失败率（Dice &lt; 0.3）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&lt; 5%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Mimics 集成方案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流程：平台 split/merge → Case Package → Mimics 导入 → 人工修正 → Mimics 导出 → 校验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43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5720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API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用途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来源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mimics.data.masks.find(name=...)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查找指定名称 Mask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社区代码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mask.get_voxel_buffer()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获取 Mask 体素（numpy 数组）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社区代码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mask.set_voxel_buffer(arr)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导入外部 numpy 数组到 Mask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官方员工确认 (2023)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NIfTI 导入导出（2025 GUI）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官方原生功能，替代手工写 affine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产品更新页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Help → Scripting Guide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完整 API 文档，内置在 Mimics 中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随软件安装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029200"/>
          <a:ext cx="11430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风险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影响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应对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set_voxel_buffer 空间对齐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标签与 CT 错位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check_geometry.py 检测 + 修复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Scripting API 不足以覆盖所有步骤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自动化降低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GUI 手动 + 平台脚本补偿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Mimics 完全不可用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阻塞标注流程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切换 3D Slicer / ITK-SNAP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分阶段实施路线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43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67512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阶段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目标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状态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A. 文件包闭环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一个病例从候选标签到人工保存，再进入训练快照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👈 当前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B. 注册中心 + 快照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Data Registry + Dataset Snapshot，多任务复用，训练可复现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设计已定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C. Adapter 稳定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nnUNet Adapter 跑通，预留 MONAI / FewShot 接口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设计已定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D. 离线批量推理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模型版本 + 批量任务 + candidate_label 回流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后期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E. 统一调度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Web UI、任务队列、权限、审计 → 数据契约稳定后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后期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已确认的关键决策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4300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决策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决定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伪标签准入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默认允许，取决于器官/任务/模型。默认允许 + 特定排除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器官范围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v500 全部模型（CT1-16、MR1-8），全身覆盖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全身模型方案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保持多模型组合（已验证），后期再实验统一模型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Mimics POC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先调研准备（确认 Scripting Guide API），再启动 POC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少样本学习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training 域新 Adapter，与 nnUNet 平级，需过实验协议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label_policy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candidate_label 可通过 allow_status 直接纳入训练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Data Registry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先不实现但必记，闭环跑通后补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实现前待确认清单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7607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阻塞项</a:t>
                      </a:r>
                    </a:p>
                  </a:txBody>
                  <a:tcPr anchor="ctr" marL="91440" marR="9144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状态</a:t>
                      </a:r>
                    </a:p>
                  </a:txBody>
                  <a:tcPr anchor="ctr" marL="91440" marR="91440">
                    <a:solidFill>
                      <a:srgbClr val="DC2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A1. Mimics 版本 + 许可证类型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未确认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A2. Scripting Guide 中 mask 相关 API 清单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需在 Mimics Help 中查看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A3. Mimics 能否运行 Python 脚本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取决于许可证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A4. 第一批 3-5 个病例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数据不是瓶颈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A5. 训练服务器环境（GPU、路径）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未确认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5760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7607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非阻塞项（可立即实现）</a:t>
                      </a:r>
                    </a:p>
                  </a:txBody>
                  <a:tcPr anchor="ctr" marL="91440" marR="91440"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用途</a:t>
                      </a:r>
                    </a:p>
                  </a:txBody>
                  <a:tcPr anchor="ctr" marL="91440" marR="91440">
                    <a:solidFill>
                      <a:srgbClr val="0596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B1. split_multilabel_to_masks.py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多标签 NIfTI → 逐器官二值 mask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B2. merge_masks_to_multilabel.py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逐器官 mask → 多标签 NIfTI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B3. check_geometry.py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shape/spacing/affine 校验 + 自动修复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B4. package_case.py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生成 Case Package 目录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B5. import_case_package.py（Mimics Adapter）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读 masks → numpy → set_voxel_buffer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B6. export_review_package.py（Mimics Adapter）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get_voxel_buffer → numpy → 保存 masks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时间估算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9669"/>
                </a:solidFill>
                <a:latin typeface="Arial"/>
              </a:defRPr>
            </a:pPr>
            <a:r>
              <a:t>顺利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3-4 周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14600"/>
            <a:ext cx="1645920" cy="274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A1-A3 秒确认</a:t>
            </a:r>
            <a:br/>
            <a:r>
              <a:t>API 全有，几何无问题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正常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5-6 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514600"/>
            <a:ext cx="1645920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1-2 个 Mimics 弯路</a:t>
            </a:r>
            <a:br/>
            <a:r>
              <a:t>1-2 轮几何调试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258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Arial"/>
              </a:defRPr>
            </a:pPr>
            <a:r>
              <a:t>Mimics 受限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+2-3 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514600"/>
            <a:ext cx="164592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降级 GUI 手动</a:t>
            </a:r>
            <a:br/>
            <a:r>
              <a:t>或切 3D Slicer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365760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65760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模块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工时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信心</a:t>
                      </a:r>
                    </a:p>
                  </a:txBody>
                  <a:tcPr anchor="ctr" marL="91440" marR="9144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平台脚本 B1-B4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4-5 天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高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Mimics Adapter B5-B6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乐观 2 天 / 悲观 2 周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中低（依赖 A1-A3）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闭环测试 + 调试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1-2 周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3-5 病例验证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周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最大减速带不是代码量，是 Mimics 确认和几何对齐调试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