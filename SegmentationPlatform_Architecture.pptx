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医学图像分割平台架构设计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3474720" y="2011680"/>
            <a:ext cx="2194560" cy="36576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240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 Platform Architecture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2026-06-07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平台核心定位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3566160"/>
            <a:ext cx="8412480" cy="1143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70332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平台中心 ≠ 某个训练框架或标注软件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平台中心 = 病例、图像、标签、训练任务、模型版本之间的关系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标注、训练、伪标签、离线推理都围绕这些关系发生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15544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2801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病例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1737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⟷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965960" y="1280160"/>
            <a:ext cx="15544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65960" y="12801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737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⟷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657600" y="1280160"/>
            <a:ext cx="15544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0" y="12801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标签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74920" y="1737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⟷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349240" y="1280160"/>
            <a:ext cx="15544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49240" y="12801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训练任务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66560" y="1737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⟷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040880" y="1280160"/>
            <a:ext cx="15544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40880" y="12801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模型版本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828800" y="2633472"/>
            <a:ext cx="274320" cy="0"/>
          </a:xfrm>
          <a:prstGeom prst="line">
            <a:avLst/>
          </a:prstGeom>
          <a:noFill/>
          <a:ln w="19050">
            <a:solidFill>
              <a:srgbClr val="0284C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0440" y="2633472"/>
            <a:ext cx="274320" cy="0"/>
          </a:xfrm>
          <a:prstGeom prst="line">
            <a:avLst/>
          </a:prstGeom>
          <a:noFill/>
          <a:ln w="19050">
            <a:solidFill>
              <a:srgbClr val="0284C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12080" y="2633472"/>
            <a:ext cx="274320" cy="0"/>
          </a:xfrm>
          <a:prstGeom prst="line">
            <a:avLst/>
          </a:prstGeom>
          <a:noFill/>
          <a:ln w="19050">
            <a:solidFill>
              <a:srgbClr val="0284C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03720" y="2633472"/>
            <a:ext cx="274320" cy="0"/>
          </a:xfrm>
          <a:prstGeom prst="line">
            <a:avLst/>
          </a:prstGeom>
          <a:noFill/>
          <a:ln w="1905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三大实现域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097280"/>
            <a:ext cx="2788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54864" cy="36576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070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labeling  标注域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7190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标签生产与导回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导出 Case Package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 修正 + 保存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几何校验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注册 verified_label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788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097280"/>
            <a:ext cx="54864" cy="3657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2070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 训练域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66160" y="17190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任务消费标签 → 模型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66160" y="20574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TaskLabelMap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Snapshot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nnUNet Adapter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Record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097280"/>
            <a:ext cx="2788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097280"/>
            <a:ext cx="54864" cy="36576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2070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label_generation  标签生成域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17190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候选标签生成与回流治理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20574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公开算法 / 自训模型推理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candidate_label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QC + 准入策略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回流到标注或训练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三个域按「不同责任」划分，不是按 pipeline 顺序。故意不用 annotation_pipeline / pseudo_labeling 等对称命名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闭环流程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Shape 2"/>
          <p:cNvSpPr/>
          <p:nvPr/>
        </p:nvSpPr>
        <p:spPr>
          <a:xfrm>
            <a:off x="3840480" y="777240"/>
            <a:ext cx="12801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840480" y="7772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病例数据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777240"/>
            <a:ext cx="14630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7772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标签来源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0" y="1920240"/>
            <a:ext cx="12801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98080" y="19202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3108960"/>
            <a:ext cx="12801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0" y="31089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数据快照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0" y="4251960"/>
            <a:ext cx="14630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4251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40480" y="4251960"/>
            <a:ext cx="12801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40480" y="42519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108960"/>
            <a:ext cx="1371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" y="31089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批量推理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1920240"/>
            <a:ext cx="1371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65760" y="19202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候选标签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" y="1554480"/>
            <a:ext cx="2011680" cy="24231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D9770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37160" y="2423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040880" y="1554480"/>
            <a:ext cx="2011680" cy="24231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0284C7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178040" y="2423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labeling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303520" y="3474720"/>
            <a:ext cx="3474720" cy="164592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059669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349240" y="4069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六种标签状态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280160"/>
            <a:ext cx="128016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801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source_label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0" y="1280160"/>
            <a:ext cx="13716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0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candidate_label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0" y="260604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26060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draft_label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35040" y="260604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26060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accepted_pseudo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98080" y="260604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498080" y="26060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verified_label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60604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F87171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5760" y="26060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rejected_label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45920" y="1353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00400" y="1353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QC 通过 →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88720" y="13533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失败 →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38328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114800"/>
                <a:gridCol w="20116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含义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默认可训练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source_label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外部数据集自带标签，未经平台判断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视来源质量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candidate_label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模型/算法生成候选结果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默认否，策略可纳入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draft_label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专门准备给人修正的起点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accepted_pseudo_label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经 QC + 策略接受的伪标签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任务策略决定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verified_label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人工确认标签（单人保存即 verified）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是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rejected_label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已判定不可用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三层 Label Map 设计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051560"/>
            <a:ext cx="27889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54864" cy="196596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612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anatomy_vocabulary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28800" y="1115568"/>
            <a:ext cx="1005840" cy="237744"/>
          </a:xfrm>
          <a:prstGeom prst="rect">
            <a:avLst/>
          </a:prstGeom>
          <a:solidFill>
            <a:srgbClr val="0284C7">
              <a:alpha val="1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11155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语义层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这是什么器官？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liver = 肝脏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纯语义，无数字，全平台唯一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7889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1051560"/>
            <a:ext cx="54864" cy="19659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1612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review_label_map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00600" y="1115568"/>
            <a:ext cx="1005840" cy="237744"/>
          </a:xfrm>
          <a:prstGeom prst="rect">
            <a:avLst/>
          </a:prstGeom>
          <a:solidFill>
            <a:srgbClr val="D97706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11155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66160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工具里是几号？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1920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liver = 10 (Mimics)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受标注软件限制，可随工具换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051560"/>
            <a:ext cx="27889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051560"/>
            <a:ext cx="54864" cy="19659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11612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task_label_maps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772400" y="1115568"/>
            <a:ext cx="1005840" cy="237744"/>
          </a:xfrm>
          <a:prstGeom prst="rect">
            <a:avLst/>
          </a:prstGeom>
          <a:solidFill>
            <a:srgbClr val="059669">
              <a:alpha val="1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11155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训练层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37960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训练时是几号？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37960" y="1920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liver = 2 (CT5_Liver)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nnUNet 要求类内连续整数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同一个 liver：review 文件里 = 10，CT5_Liver 任务里 = 2，CT_Combine 展示 = 37。不是数字冲突，是层级分工。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70332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6692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尝试合并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为什么不行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合并 anatomy + review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换标注工具就要改器官名称表；器官名称应是全平台稳定引用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合并 review + task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同一 liver 在不同任务编号不同 (CT5=2, CT_All_Coarse=5)，没有唯一编号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全合并成一张表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语义层、工具层、训练层的约束来源各不相同，修改会互相拉扯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Package 契约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51560"/>
            <a:ext cx="3474720" cy="3200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4300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case_package/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manifest.json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images/image.nii.gz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labels/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draft_label.nii.gz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verified_label.nii.gz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masks/liver.nii.gz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config/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anatomy_vocabulary.yaml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review_label_map.yaml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reports/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provenance/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051560"/>
          <a:ext cx="4663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15544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校验规则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校验项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级别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处理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图像 sha256 不一致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拒绝导入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标签 shape 不一致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不可修复，拒绝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spacing/affine 不一致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Warning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check_geometry.py 自动修复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 id 不合法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拒绝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只有 draft 无 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Warning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标记，不阻塞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必需器官缺失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Warning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记录在报告中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4348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一个病例一个包，自包含可搬运。nnUNet 不直接读 Case Package → 经 Registry + Snapshot 导出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训练管线 — nnUNet 五阶段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  +  ModelMap.toml  →  AutoSegmentationFramework（编排器）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920240"/>
            <a:ext cx="150876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011680"/>
            <a:ext cx="365760" cy="36576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4688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数据转换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" y="28803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标注数据 → nnUNet 格式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重采样 + 合并 + 划分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69164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20240" y="1920240"/>
            <a:ext cx="150876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68880" y="2011680"/>
            <a:ext cx="365760" cy="36576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11680" y="24688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预处理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93392" y="28803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指纹提取 + 实验规划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支持手动覆盖参数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3756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566160" y="1920240"/>
            <a:ext cx="150876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114800" y="2011680"/>
            <a:ext cx="365760" cy="36576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0" y="24688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39312" y="28803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管理 + 5 折交叉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DDP 多卡支持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8348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212080" y="1920240"/>
            <a:ext cx="150876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760720" y="2011680"/>
            <a:ext cx="365760" cy="36576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0" y="24688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85232" y="28803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预插值加速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多模型共享分辨率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2940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858000" y="1920240"/>
            <a:ext cx="150876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406640" y="2011680"/>
            <a:ext cx="365760" cy="36576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49440" y="24688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31152" y="28803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Dice + Surface Dice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多格式报告 + 聚合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3840480"/>
            <a:ext cx="8412480" cy="64008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ModelMap.toml 已是 TaskLabelMap 雏形：每模型独立从 1 编号，支持扁平格式（细粒度）和分组格式（粗分割）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6177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 GPU 调度：不同 GPU 并行 + 同 GPU 串行 → 自动生成 gpu{0,1,2,3}.sh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架构 — 可扩展性核心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0" y="1051560"/>
            <a:ext cx="27432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0" y="1051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Snapshot  冻结的数据视图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874520"/>
            <a:ext cx="20116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" y="1874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nnUNet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" y="24231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全监督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生产级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234440" y="1920240"/>
            <a:ext cx="868680" cy="201168"/>
          </a:xfrm>
          <a:prstGeom prst="rect">
            <a:avLst/>
          </a:prstGeom>
          <a:solidFill>
            <a:srgbClr val="059669">
              <a:alpha val="1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192024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已完成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3291840"/>
            <a:ext cx="164592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2918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Record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7440" y="1874520"/>
            <a:ext cx="20116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377440" y="1874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77440" y="24231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预训练+微调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少样本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0" y="1920240"/>
            <a:ext cx="868680" cy="201168"/>
          </a:xfrm>
          <a:prstGeom prst="rect">
            <a:avLst/>
          </a:prstGeom>
          <a:solidFill>
            <a:srgbClr val="0284C7">
              <a:alpha val="1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383280" y="192024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架构已定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560320" y="3291840"/>
            <a:ext cx="164592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32918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Record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26280" y="1874520"/>
            <a:ext cx="20116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1874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4231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532120" y="1920240"/>
            <a:ext cx="868680" cy="201168"/>
          </a:xfrm>
          <a:prstGeom prst="rect">
            <a:avLst/>
          </a:prstGeom>
          <a:solidFill>
            <a:srgbClr val="D97706">
              <a:alpha val="1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532120" y="192024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709160" y="3291840"/>
            <a:ext cx="164592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32918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Record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75120" y="1874520"/>
            <a:ext cx="20116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75120" y="1874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其他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75120" y="24231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/ 新框架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80960" y="1920240"/>
            <a:ext cx="868680" cy="201168"/>
          </a:xfrm>
          <a:prstGeom prst="rect">
            <a:avLst/>
          </a:prstGeom>
          <a:solidFill>
            <a:srgbClr val="64748B">
              <a:alpha val="1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7680960" y="192024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可扩展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58000" y="3291840"/>
            <a:ext cx="164592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0" y="32918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Record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023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不变层（数据契约）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Case / Image Artifact / Label Artifact / Dataset Snapshot / label_policy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可变层（Adapter 封装）：nnUNet / MONAI / FewShot / SAM / ...</a:t>
            </a:r>
            <a:endParaRPr lang="en-US" sz="14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新框架 = 新 Adapter，不动数据契约。就像 USB 协议：设备可换，接口不变。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少样本学习 — FewShot Adapter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301752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97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Snapshot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301752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2011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nnUNet Adapter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全监督训练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560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生产级 · 已完成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301752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34290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FewShot Adapter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少样本训练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977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架构已定 · 待生产级验证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0" y="10972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生产级实验协议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840480" y="1600200"/>
            <a:ext cx="274320" cy="27432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0624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选定器官 → verified 病例 → 患者级别冻结划分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40480" y="2057400"/>
            <a:ext cx="274320" cy="27432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7" name="Text 15"/>
          <p:cNvSpPr/>
          <p:nvPr/>
        </p:nvSpPr>
        <p:spPr>
          <a:xfrm>
            <a:off x="384048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0624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构建 N-shot Snapshot（N=1, 3, 5, 10, 20）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40480" y="2514600"/>
            <a:ext cx="274320" cy="27432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0" name="Text 18"/>
          <p:cNvSpPr/>
          <p:nvPr/>
        </p:nvSpPr>
        <p:spPr>
          <a:xfrm>
            <a:off x="384048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206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三对照组：A.全监督上界 / B.同数据量基线 / C.微调实验组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840480" y="2971800"/>
            <a:ext cx="274320" cy="27432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3" name="Text 21"/>
          <p:cNvSpPr/>
          <p:nvPr/>
        </p:nvSpPr>
        <p:spPr>
          <a:xfrm>
            <a:off x="38404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206240" y="2971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冻结测试集上计算 Dice, Surface Dice, Hausdorff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840480" y="3429000"/>
            <a:ext cx="274320" cy="27432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6" name="Text 24"/>
          <p:cNvSpPr/>
          <p:nvPr/>
        </p:nvSpPr>
        <p:spPr>
          <a:xfrm>
            <a:off x="384048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0624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结果登记 Model Registry → 达准入标准 → 升级为 Adapter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840480" y="3977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准入标准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429768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条件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阈值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独立复现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每器官 ≥ 3 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Dice vs 全监督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全监督的 90%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跨扫描协议差距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0.05 Dice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失败率 (Dice&lt;0.3)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 集成方案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1051560"/>
            <a:ext cx="1417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0515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/ merge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194560" y="1051560"/>
            <a:ext cx="1417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194560" y="10515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06240" y="1051560"/>
            <a:ext cx="1417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06240" y="10515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导入 masks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051560"/>
            <a:ext cx="1417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0515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0" y="1051560"/>
            <a:ext cx="1417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0" y="10515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导出 masks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0020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1188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3524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760" y="20116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 API（已确认存在）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77440"/>
          <a:ext cx="8412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2194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mimics.data.masks.find(name=...)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查找指定名称 Mask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社区代码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mask.get_voxel_buffer()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获取 Mask 体素（numpy 数组）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社区代码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mask.set_voxel_buffer(arr)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导入 numpy 数组到 Mask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官方员工确认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NIfTI 导入导出 (2025 GUI)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官方原生功能，替代手工 affine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产品更新页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Help → Scripting Guide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 API 文档，内置在 Mimics 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随软件安装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365760" y="4069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风险与应对</a:t>
            </a:r>
            <a:endParaRPr lang="en-US" sz="14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38912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34747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应对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set_voxel_buffer 空间对齐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标签与 CT 错位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check_geometry.py 检测 + 修复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Scripting API 不足以覆盖所有步骤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自动化降低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 手动 + 平台脚本补偿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Mimics 完全不可用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阻塞标注流程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切换 3D Slicer / ITK-SNAP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分阶段实施路线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828800"/>
                <a:gridCol w="411480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文件包闭环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一个病例从候选标签到人工保存，再进入训练快照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👈 当前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注册中心 + 快照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Registry、Dataset Snapshot → 多任务复用、训练可复现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设计已定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 稳定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nnUNet Adapter 跑通，预留 MONAI / FewShot 接口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设计已定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离线批量推理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模型版本 + 批量任务 + candidate_label 回流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后期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统一调度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UI、任务队列、权限、审计 → 数据契约稳定后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后期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已确认的关键决策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54864" cy="36576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伪标签准入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834640" y="11887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默认允许，取决于器官/任务/模型。默认允许 + 特定排除，provenance 永不造假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54864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190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器官范围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4640" y="17190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v500 全部模型（CT1-16、MR1-8），涵盖全身多处器官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49424"/>
            <a:ext cx="54864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2494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全身模型方案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834640" y="224942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保持多模型组合（已验证），后期有条件再实验统一模型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54864" cy="36576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77977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 POC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277977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先做调研准备（确认 Scripting Guide API），再启动 POC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310128"/>
            <a:ext cx="54864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101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少样本学习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34640" y="331012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域新 Adapter，与 nnUNet 平级，需先过生产级实验协议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840480"/>
            <a:ext cx="54864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840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label_policy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834640" y="38404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candidate_label 可通过 allow_status 直接纳入训练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4370832"/>
            <a:ext cx="54864" cy="3657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3708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Registry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834640" y="437083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先不实现但必记——可追溯和可插拔的前提，闭环跑通后补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实现前待确认清单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91440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阻塞项（必须确认）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2120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717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717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717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Mimics 版本 + 许可证类型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未确认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Scripting Guide 中 mask 相关 API 清单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需在 Mimics Help 中查看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Mimics 能否运行 Python 脚本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取决于许可证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第一批 3-5 个病例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数据不是瓶颈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训练服务器环境（GPU、路径）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未确认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108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非阻塞项（可立即实现）</a:t>
            </a:r>
            <a:endParaRPr lang="en-US" sz="14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74720"/>
          <a:ext cx="84124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65760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split_multilabel_to_masks.py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多标签 NIfTI → 逐器官二值 mask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merge_masks_to_multilabel.py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逐器官 mask → 多标签 NIfTI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check_geometry.py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shape/spacing/affine 校验 + 自动修复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package_case.py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生成 Case Package 目录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import_case_package.py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读 masks → numpy → set_voxel_buffer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export_review_package.py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get_voxel_buffer → numpy → 保存 masks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时间估算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651760" cy="22860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顺利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3-4 周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914400" y="2377440"/>
            <a:ext cx="1554480" cy="2743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A1-A3 秒确认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全有，几何无问题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651760" cy="22860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1691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5-6 周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3840480" y="2377440"/>
            <a:ext cx="1554480" cy="2743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 Mimics 弯路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轮几何调试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097280"/>
            <a:ext cx="2651760" cy="22860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 受限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0" y="1691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+2-3 周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6766560" y="2377440"/>
            <a:ext cx="1554480" cy="2743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降级 GUI 手动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或切 3D Slicer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118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工时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信心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平台脚本 B1-B4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4-5 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Mimics Adapter B5-B6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乐观 2 天 / 悲观 2 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中低（依赖 A1-A3）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闭环测试 + 调试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 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 病例验证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48640" y="489204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最大减速带不是代码量，是 Mimics 确认和几何对齐调试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Segmentation Platform Architecture</dc:title>
  <dc:subject>PptxGenJS Presentation</dc:subject>
  <dc:creator>ShijianRuan</dc:creator>
  <cp:lastModifiedBy>ShijianRuan</cp:lastModifiedBy>
  <cp:revision>1</cp:revision>
  <dcterms:created xsi:type="dcterms:W3CDTF">2026-06-07T15:18:09Z</dcterms:created>
  <dcterms:modified xsi:type="dcterms:W3CDTF">2026-06-07T15:18:09Z</dcterms:modified>
</cp:coreProperties>
</file>