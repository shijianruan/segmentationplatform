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977640" cy="5143500"/>
          </a:xfrm>
          <a:prstGeom prst="rect">
            <a:avLst/>
          </a:prstGeom>
          <a:solidFill>
            <a:srgbClr val="131F28"/>
          </a:solidFill>
          <a:ln w="12700">
            <a:solidFill>
              <a:srgbClr val="131F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12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ED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分割平台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不是三条管线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9E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而是一套标签生命周期治理系统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5216" y="3584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标注、训练、候选标签回流，都围绕同一组稳定对象发生。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9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66360" y="621792"/>
            <a:ext cx="3090672" cy="3090672"/>
          </a:xfrm>
          <a:prstGeom prst="ellipse">
            <a:avLst/>
          </a:prstGeom>
          <a:solidFill>
            <a:srgbClr val="24313D"/>
          </a:solidFill>
          <a:ln w="1524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27878" y="859536"/>
            <a:ext cx="2567635" cy="2591410"/>
          </a:xfrm>
          <a:prstGeom prst="ellipse">
            <a:avLst/>
          </a:prstGeom>
          <a:solidFill>
            <a:srgbClr val="2E3D49"/>
          </a:solidFill>
          <a:ln w="6350">
            <a:solidFill>
              <a:srgbClr val="97A4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5622" y="1121054"/>
            <a:ext cx="2080260" cy="1783080"/>
          </a:xfrm>
          <a:prstGeom prst="arc">
            <a:avLst/>
          </a:prstGeom>
          <a:noFill/>
          <a:ln w="7620">
            <a:solidFill>
              <a:srgbClr val="CAD2D9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2998" y="1667866"/>
            <a:ext cx="689458" cy="855878"/>
          </a:xfrm>
          <a:prstGeom prst="ellipse">
            <a:avLst/>
          </a:prstGeom>
          <a:solidFill>
            <a:srgbClr val="BC4749"/>
          </a:solidFill>
          <a:ln w="12700">
            <a:solidFill>
              <a:srgbClr val="BC47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1132" y="1715414"/>
            <a:ext cx="534924" cy="689458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4516" y="2369210"/>
            <a:ext cx="653796" cy="380390"/>
          </a:xfrm>
          <a:prstGeom prst="ellipse">
            <a:avLst/>
          </a:prstGeom>
          <a:solidFill>
            <a:srgbClr val="B98520"/>
          </a:solidFill>
          <a:ln w="12700">
            <a:solidFill>
              <a:srgbClr val="B985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3822192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172533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85419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15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labeling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989320" y="3822192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172533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85419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08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7388352" y="3822192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172533"/>
          </a:solidFill>
          <a:ln w="10160">
            <a:solidFill>
              <a:srgbClr val="B98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385419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98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label_generation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590288" y="4297680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BBC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 /  Image  /  Label  /  Snapshot  /  Model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现在的问题不是缺一条 pipeline，而是边界会互相污染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如果架构只按“标注 / 训练 / 伪标签脚本”拆，后面很快会找不到责任归属。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三类变化会同时发生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18688" y="1435608"/>
            <a:ext cx="384048" cy="384048"/>
          </a:xfrm>
          <a:prstGeom prst="ellipse">
            <a:avLst/>
          </a:prstGeom>
          <a:solidFill>
            <a:srgbClr val="315F9F"/>
          </a:solidFill>
          <a:ln w="12700">
            <a:solidFill>
              <a:srgbClr val="315F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490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1344168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344168"/>
            <a:ext cx="73152" cy="713232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453896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数据区域变化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1764792"/>
            <a:ext cx="4489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CT/MR、全身/局部、不同模型组合，不能假设每个任务看到同一组器官。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218688" y="2395728"/>
            <a:ext cx="384048" cy="384048"/>
          </a:xfrm>
          <a:prstGeom prst="ellipse">
            <a:avLst/>
          </a:prstGeom>
          <a:solidFill>
            <a:srgbClr val="20805D"/>
          </a:solidFill>
          <a:ln w="12700">
            <a:solidFill>
              <a:srgbClr val="2080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4505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2304288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2304288"/>
            <a:ext cx="73152" cy="713232"/>
          </a:xfrm>
          <a:prstGeom prst="rect">
            <a:avLst/>
          </a:prstGeom>
          <a:solidFill>
            <a:srgbClr val="20805D"/>
          </a:solidFill>
          <a:ln w="12700">
            <a:solidFill>
              <a:srgbClr val="2080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2414016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训练任务变化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67328" y="2724912"/>
            <a:ext cx="4489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同一套数据可给肺任务、肝胆任务、全身组合任务使用，label id 必须任务级定义。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218688" y="3355848"/>
            <a:ext cx="384048" cy="384048"/>
          </a:xfrm>
          <a:prstGeom prst="ellipse">
            <a:avLst/>
          </a:prstGeom>
          <a:solidFill>
            <a:srgbClr val="B98520"/>
          </a:solidFill>
          <a:ln w="12700">
            <a:solidFill>
              <a:srgbClr val="B98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34107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0" y="3264408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B985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3264408"/>
            <a:ext cx="73152" cy="713232"/>
          </a:xfrm>
          <a:prstGeom prst="rect">
            <a:avLst/>
          </a:prstGeom>
          <a:solidFill>
            <a:srgbClr val="B98520"/>
          </a:solidFill>
          <a:ln w="12700">
            <a:solidFill>
              <a:srgbClr val="B98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3374136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标签来源变化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67328" y="3685032"/>
            <a:ext cx="4489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 confirmed、公开数据、自训模型、候选伪标签都可能进入闭环，但来源不能被抹平。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7909560" cy="530352"/>
          </a:xfrm>
          <a:prstGeom prst="roundRect">
            <a:avLst>
              <a:gd name="adj" fmla="val 13793"/>
            </a:avLst>
          </a:prstGeom>
          <a:solidFill>
            <a:srgbClr val="F6E4E2"/>
          </a:solidFill>
          <a:ln w="10160">
            <a:solidFill>
              <a:srgbClr val="BC47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087368"/>
            <a:ext cx="7690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架构判断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4398264"/>
            <a:ext cx="769010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先稳定对象关系和责任边界，再讨论具体工具。Mimics 与 nnUNet 都应该被 Adapter 包住。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平台中心：五类对象，而不是某个工具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每个后续模块都应该能回答：它读写哪个对象？改变哪个状态？留下什么证据？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03320" y="18745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7F6F5"/>
          </a:solidFill>
          <a:ln w="10160">
            <a:solidFill>
              <a:srgbClr val="1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3048" y="19842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LabelArtifact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3048" y="2295144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标签文件 + 状态 + 来源 + QC 证据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13232" y="114300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252728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56362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病例身份与元数据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13232" y="315468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64408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ImageArtifact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57530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CT/MR 图像与空间几何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400800" y="114300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252728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DatasetSnapshot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0528" y="156362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冻结训练视图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3264408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TrainingTask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357530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任务级 label map 和策略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703320" y="379476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CF7"/>
          </a:solidFill>
          <a:ln w="10160">
            <a:solidFill>
              <a:srgbClr val="6656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3904488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ModelRecord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13048" y="421538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训练产物与推理来源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587752" y="1499616"/>
            <a:ext cx="1115568" cy="603504"/>
          </a:xfrm>
          <a:prstGeom prst="line">
            <a:avLst/>
          </a:prstGeom>
          <a:noFill/>
          <a:ln w="13970">
            <a:solidFill>
              <a:srgbClr val="315F9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87752" y="3511296"/>
            <a:ext cx="1115568" cy="-1069848"/>
          </a:xfrm>
          <a:prstGeom prst="line">
            <a:avLst/>
          </a:prstGeom>
          <a:noFill/>
          <a:ln w="13970">
            <a:solidFill>
              <a:srgbClr val="315F9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2103120"/>
            <a:ext cx="731520" cy="-603504"/>
          </a:xfrm>
          <a:prstGeom prst="line">
            <a:avLst/>
          </a:prstGeom>
          <a:noFill/>
          <a:ln w="13970">
            <a:solidFill>
              <a:srgbClr val="20805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69280" y="2441448"/>
            <a:ext cx="731520" cy="1069848"/>
          </a:xfrm>
          <a:prstGeom prst="line">
            <a:avLst/>
          </a:prstGeom>
          <a:noFill/>
          <a:ln w="13970">
            <a:solidFill>
              <a:srgbClr val="20805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81728" y="3794760"/>
            <a:ext cx="0" cy="-1051560"/>
          </a:xfrm>
          <a:prstGeom prst="line">
            <a:avLst/>
          </a:prstGeom>
          <a:noFill/>
          <a:ln w="13970">
            <a:solidFill>
              <a:srgbClr val="6656A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42316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工具只能接入对象，不能重新定义对象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BOUNDARY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三大域的名字不是为了对称，而是为了防止误放代码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每个域都有明确的输入、输出和不负责事项。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2487168" cy="3310128"/>
          </a:xfrm>
          <a:prstGeom prst="roundRect">
            <a:avLst>
              <a:gd name="adj" fmla="val 3676"/>
            </a:avLst>
          </a:prstGeom>
          <a:solidFill>
            <a:srgbClr val="E7EEF8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15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 / 审核 / 导回标签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2121408" cy="0"/>
          </a:xfrm>
          <a:prstGeom prst="line">
            <a:avLst/>
          </a:prstGeom>
          <a:noFill/>
          <a:ln w="15240">
            <a:solidFill>
              <a:srgbClr val="315F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Package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import/export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check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verified_label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895344"/>
            <a:ext cx="1920240" cy="219456"/>
          </a:xfrm>
          <a:prstGeom prst="roundRect">
            <a:avLst>
              <a:gd name="adj" fmla="val 33333"/>
            </a:avLst>
          </a:prstGeom>
          <a:solidFill>
            <a:srgbClr val="F6E4E2"/>
          </a:solidFill>
          <a:ln w="10160">
            <a:solidFill>
              <a:srgbClr val="BC47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27348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C4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不决定训练编号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337560" y="1170432"/>
            <a:ext cx="2487168" cy="3310128"/>
          </a:xfrm>
          <a:prstGeom prst="roundRect">
            <a:avLst>
              <a:gd name="adj" fmla="val 3676"/>
            </a:avLst>
          </a:prstGeom>
          <a:solidFill>
            <a:srgbClr val="E7F2EC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8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2152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消费标签并产出模型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02152" y="2057400"/>
            <a:ext cx="2121408" cy="0"/>
          </a:xfrm>
          <a:prstGeom prst="line">
            <a:avLst/>
          </a:prstGeom>
          <a:noFill/>
          <a:ln w="15240">
            <a:solidFill>
              <a:srgbClr val="2080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233172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Snapshot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TaskLabelMap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nnUNet Adapter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Record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02152" y="3895344"/>
            <a:ext cx="1920240" cy="219456"/>
          </a:xfrm>
          <a:prstGeom prst="roundRect">
            <a:avLst>
              <a:gd name="adj" fmla="val 33333"/>
            </a:avLst>
          </a:prstGeom>
          <a:solidFill>
            <a:srgbClr val="F6E4E2"/>
          </a:solidFill>
          <a:ln w="10160">
            <a:solidFill>
              <a:srgbClr val="BC47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3927348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C4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不治理标签来源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108192" y="1170432"/>
            <a:ext cx="2487168" cy="3310128"/>
          </a:xfrm>
          <a:prstGeom prst="roundRect">
            <a:avLst>
              <a:gd name="adj" fmla="val 3676"/>
            </a:avLst>
          </a:prstGeom>
          <a:solidFill>
            <a:srgbClr val="F5EBD6"/>
          </a:solidFill>
          <a:ln w="10160">
            <a:solidFill>
              <a:srgbClr val="B985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8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label_generation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72784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生成候选并回流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72784" y="2057400"/>
            <a:ext cx="2121408" cy="0"/>
          </a:xfrm>
          <a:prstGeom prst="line">
            <a:avLst/>
          </a:prstGeom>
          <a:noFill/>
          <a:ln w="15240">
            <a:solidFill>
              <a:srgbClr val="B98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233172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inference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candidate_label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report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accepted/rejected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72784" y="3895344"/>
            <a:ext cx="1920240" cy="219456"/>
          </a:xfrm>
          <a:prstGeom prst="roundRect">
            <a:avLst>
              <a:gd name="adj" fmla="val 33333"/>
            </a:avLst>
          </a:prstGeom>
          <a:solidFill>
            <a:srgbClr val="F6E4E2"/>
          </a:solidFill>
          <a:ln w="10160">
            <a:solidFill>
              <a:srgbClr val="BC47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927348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C4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不等于伪标签脚本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LIFECYCLE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是闸门，不是标签状态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标签状态描述“它现在是什么”，QC 描述“它为什么能或不能进入下一步”。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CF7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95681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source_label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212848" y="18470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CF7"/>
          </a:solidFill>
          <a:ln w="10160">
            <a:solidFill>
              <a:srgbClr val="B98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2576" y="195681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candidate_label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005072" y="18470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CF7"/>
          </a:solidFill>
          <a:ln w="10160">
            <a:solidFill>
              <a:srgbClr val="1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95681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draft_label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724144" y="18470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CF7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95681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verified_label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1828800" y="2084832"/>
            <a:ext cx="384048" cy="0"/>
          </a:xfrm>
          <a:prstGeom prst="line">
            <a:avLst/>
          </a:prstGeom>
          <a:noFill/>
          <a:ln w="13970">
            <a:solidFill>
              <a:srgbClr val="315F9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38728" y="2084832"/>
            <a:ext cx="466344" cy="0"/>
          </a:xfrm>
          <a:prstGeom prst="line">
            <a:avLst/>
          </a:prstGeom>
          <a:noFill/>
          <a:ln w="13970">
            <a:solidFill>
              <a:srgbClr val="B9852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30952" y="2084832"/>
            <a:ext cx="393192" cy="0"/>
          </a:xfrm>
          <a:prstGeom prst="line">
            <a:avLst/>
          </a:prstGeom>
          <a:noFill/>
          <a:ln w="13970">
            <a:solidFill>
              <a:srgbClr val="1F9D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24144" y="297180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E7F2EC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3081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accepted_pseudo_label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212848" y="297180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6E4E2"/>
          </a:solidFill>
          <a:ln w="10160">
            <a:solidFill>
              <a:srgbClr val="BC47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3081528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rejected_label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2880360" y="2322576"/>
            <a:ext cx="0" cy="649224"/>
          </a:xfrm>
          <a:prstGeom prst="line">
            <a:avLst/>
          </a:prstGeom>
          <a:noFill/>
          <a:ln w="13970">
            <a:solidFill>
              <a:srgbClr val="BC474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12464" y="2322576"/>
            <a:ext cx="2011680" cy="649224"/>
          </a:xfrm>
          <a:prstGeom prst="line">
            <a:avLst/>
          </a:prstGeom>
          <a:noFill/>
          <a:ln w="13970">
            <a:solidFill>
              <a:srgbClr val="20805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8368" y="3913632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7EEF8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9867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 QC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99616" y="39684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/ spacing / origin / direction / affine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3145536" y="3913632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5EBD6"/>
          </a:solidFill>
          <a:ln w="10160">
            <a:solidFill>
              <a:srgbClr val="B985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39867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8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 QC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86784" y="39684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空标签、越界、器官覆盖、异常体积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5623560" y="3913632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7F2EC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3288" y="39867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8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准入 QC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64808" y="39684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allow_status、trusted_sources、任务策略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SPACE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统一器官名称，不等于统一 label id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这个设计的价值是：同一套病例数据可以被多个任务复用。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" y="1170432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E7EEF8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350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15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3167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anatomy_vocabulary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280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= 肝脏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全平台稳定，无数字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572000" y="1883664"/>
            <a:ext cx="0" cy="201168"/>
          </a:xfrm>
          <a:prstGeom prst="line">
            <a:avLst/>
          </a:prstGeom>
          <a:noFill/>
          <a:ln w="13970">
            <a:solidFill>
              <a:srgbClr val="315F9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1248" y="2377440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F5EBD6"/>
          </a:solidFill>
          <a:ln w="10160">
            <a:solidFill>
              <a:srgbClr val="B98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420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8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52374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review_label_map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4871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中 liver = 10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服务人工审核，可换工具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572000" y="3090672"/>
            <a:ext cx="0" cy="201168"/>
          </a:xfrm>
          <a:prstGeom prst="line">
            <a:avLst/>
          </a:prstGeom>
          <a:noFill/>
          <a:ln w="13970">
            <a:solidFill>
              <a:srgbClr val="B9852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" y="3584448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E7F2EC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49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8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7307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task_label_maps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36941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CT5_Liver: liver = 2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CT_All: liver 可为另一个编号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987552" y="455371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Package 只带 anatomy + review；task label map 在 Dataset Snapshot 中冻结。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PACKAGE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Package 是标注交换契约，不是训练数据集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它让文件阶段可搬运、自包含；训练阶段另行冻结 Dataset Snapshot。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1C2934"/>
          </a:solidFill>
          <a:ln w="10160">
            <a:solidFill>
              <a:srgbClr val="1C29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1732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case_package/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manifest.json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images/image.nii.gz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labels/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draft_label.nii.gz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verified_label.nii.gz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masks/liver.nii.gz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config/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anatomy_vocabulary.yaml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review_label_map.yaml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reports/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DF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provenance/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8F5F4"/>
          </a:solidFill>
          <a:ln w="10160">
            <a:solidFill>
              <a:srgbClr val="1F9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24942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病例、图像、标签来源、审计记录。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第一阶段可后置，但概念不能丢。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62940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7F2EC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128" y="193852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Snapshot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39128" y="2249424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按任务冻结：样本、标签准入、task_label_map、训练配置。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3794760" y="2313432"/>
            <a:ext cx="576072" cy="0"/>
          </a:xfrm>
          <a:prstGeom prst="line">
            <a:avLst/>
          </a:prstGeom>
          <a:noFill/>
          <a:ln w="13970">
            <a:solidFill>
              <a:srgbClr val="1F9D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16752" y="2313432"/>
            <a:ext cx="612648" cy="0"/>
          </a:xfrm>
          <a:prstGeom prst="line">
            <a:avLst/>
          </a:prstGeom>
          <a:noFill/>
          <a:ln w="13970">
            <a:solidFill>
              <a:srgbClr val="20805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364992"/>
            <a:ext cx="2286000" cy="219456"/>
          </a:xfrm>
          <a:prstGeom prst="roundRect">
            <a:avLst>
              <a:gd name="adj" fmla="val 33333"/>
            </a:avLst>
          </a:prstGeom>
          <a:solidFill>
            <a:srgbClr val="F6E4E2"/>
          </a:solidFill>
          <a:ln w="10160">
            <a:solidFill>
              <a:srgbClr val="BC47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396996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C4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不放 task_label_maps.yaml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608576" y="3685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否则同一病例会被某个训练任务的编号锁死。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工具适配层让平台不绑定 Mimics 或 nnUNet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稳定对象在中间，工具只通过 Adapter 读写对象。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63240" y="171907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E8F5F4"/>
          </a:solidFill>
          <a:ln w="10160">
            <a:solidFill>
              <a:srgbClr val="1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182880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Contract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213969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ImageArtifact / LabelArtifact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DatasetSnapshot / ModelRecord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label_policy / provenance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58368" y="1060704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7EEF8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17043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Adapter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14813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导入/导出 review package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670048" y="1444752"/>
            <a:ext cx="393192" cy="841248"/>
          </a:xfrm>
          <a:prstGeom prst="line">
            <a:avLst/>
          </a:prstGeom>
          <a:noFill/>
          <a:ln w="13970">
            <a:solidFill>
              <a:srgbClr val="315F9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1060704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7F2EC"/>
          </a:solidFill>
          <a:ln w="10160">
            <a:solidFill>
              <a:srgbClr val="2080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17043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nnUNet Adapter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64808" y="14813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现有训练管线的第一落点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355080" y="1444752"/>
            <a:ext cx="-548640" cy="841248"/>
          </a:xfrm>
          <a:prstGeom prst="line">
            <a:avLst/>
          </a:prstGeom>
          <a:noFill/>
          <a:ln w="13970">
            <a:solidFill>
              <a:srgbClr val="20805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" y="33375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5EBD6"/>
          </a:solidFill>
          <a:ln w="10160">
            <a:solidFill>
              <a:srgbClr val="B98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4472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label_generation Adapter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8096" y="37581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离线推理与 candidate 回流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670048" y="3721608"/>
            <a:ext cx="393192" cy="-1435608"/>
          </a:xfrm>
          <a:prstGeom prst="line">
            <a:avLst/>
          </a:prstGeom>
          <a:noFill/>
          <a:ln w="13970">
            <a:solidFill>
              <a:srgbClr val="B9852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5080" y="33375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AE7F4"/>
          </a:solidFill>
          <a:ln w="10160">
            <a:solidFill>
              <a:srgbClr val="6656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34472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FewShot Adapter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64808" y="37581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实验验证后再生产化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355080" y="3721608"/>
            <a:ext cx="-548640" cy="-1435608"/>
          </a:xfrm>
          <a:prstGeom prst="line">
            <a:avLst/>
          </a:prstGeom>
          <a:noFill/>
          <a:ln w="13970">
            <a:solidFill>
              <a:srgbClr val="6656A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788920" y="40690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新工具 = 新 Adapter；平台数据契约不变。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和 FewShot 是两种不同成熟度的工作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一个是标注工具集成 POC，一个是研究能力到生产 Adapter 的验证路线。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3703320" cy="3310128"/>
          </a:xfrm>
          <a:prstGeom prst="roundRect">
            <a:avLst>
              <a:gd name="adj" fmla="val 2762"/>
            </a:avLst>
          </a:prstGeom>
          <a:solidFill>
            <a:srgbClr val="E7EEF8"/>
          </a:solidFill>
          <a:ln w="10160">
            <a:solidFill>
              <a:srgbClr val="315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15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POC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目标：证明导入、人工修正、导出、几何一致，能登记为 verified_label。</a:t>
            </a:r>
            <a:endParaRPr lang="en-US" sz="92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88920"/>
          <a:ext cx="36576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148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检查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判断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F9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1720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shape mismatch</a:t>
                      </a:r>
                      <a:endParaRPr lang="en-US" sz="7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72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硬失败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1720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affine / spacing</a:t>
                      </a:r>
                      <a:endParaRPr lang="en-US" sz="7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72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可检测，条件满足时修复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1720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 / license</a:t>
                      </a:r>
                      <a:endParaRPr lang="en-US" sz="7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72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启动 POC 前确认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82312" y="1234440"/>
            <a:ext cx="3703320" cy="3310128"/>
          </a:xfrm>
          <a:prstGeom prst="roundRect">
            <a:avLst>
              <a:gd name="adj" fmla="val 2762"/>
            </a:avLst>
          </a:prstGeom>
          <a:solidFill>
            <a:srgbClr val="EAE7F4"/>
          </a:solidFill>
          <a:ln w="10160">
            <a:solidFill>
              <a:srgbClr val="6656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47488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65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FewShot path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047488" y="20848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目标：验证少样本是否能成为 training 域的新 Adapter，而不是现在就承诺生产可用。</a:t>
            </a:r>
            <a:endParaRPr lang="en-US" sz="92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7488" y="2788920"/>
          <a:ext cx="3657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240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实验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56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要求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56A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1720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N-shot</a:t>
                      </a:r>
                      <a:endParaRPr lang="en-US" sz="7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72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3 / 5 / 10 / 20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1720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对照</a:t>
                      </a:r>
                      <a:endParaRPr lang="en-US" sz="7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72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全监督 / 同数据量 / 微调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1720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准入</a:t>
                      </a:r>
                      <a:endParaRPr lang="en-US" sz="7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72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 &gt;= 90% full baseline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7620">
            <a:solidFill>
              <a:srgbClr val="D8D0C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490118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Platform | 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937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ED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MILESTONE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第一阶段只做一件事：离线文件包闭环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35331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8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candidate_label 到人工确认，再到 Dataset Snapshot 和 nnUNet 训练。先让链路真实跑通，再补 Registry、Web UI 和统一调度。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58368" y="2423160"/>
            <a:ext cx="384048" cy="384048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478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94436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package_case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3255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生成可审阅病例包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15568" y="2615184"/>
            <a:ext cx="960120" cy="0"/>
          </a:xfrm>
          <a:prstGeom prst="line">
            <a:avLst/>
          </a:prstGeom>
          <a:noFill/>
          <a:ln w="12700">
            <a:solidFill>
              <a:srgbClr val="6F7D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0" y="2423160"/>
            <a:ext cx="384048" cy="384048"/>
          </a:xfrm>
          <a:prstGeom prst="ellipse">
            <a:avLst/>
          </a:prstGeom>
          <a:solidFill>
            <a:srgbClr val="315F9F"/>
          </a:solidFill>
          <a:ln w="12700">
            <a:solidFill>
              <a:srgbClr val="315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478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294436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review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76272" y="3255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导入、保存、导回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0" y="2615184"/>
            <a:ext cx="960120" cy="0"/>
          </a:xfrm>
          <a:prstGeom prst="line">
            <a:avLst/>
          </a:prstGeom>
          <a:noFill/>
          <a:ln w="12700">
            <a:solidFill>
              <a:srgbClr val="6F7D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13632" y="2423160"/>
            <a:ext cx="384048" cy="384048"/>
          </a:xfrm>
          <a:prstGeom prst="ellipse">
            <a:avLst/>
          </a:prstGeom>
          <a:solidFill>
            <a:srgbClr val="B98520"/>
          </a:solidFill>
          <a:ln w="12700">
            <a:solidFill>
              <a:srgbClr val="B98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2478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13632" y="294436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check_geometry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03904" y="3255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shape/affine 证据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370832" y="2615184"/>
            <a:ext cx="960120" cy="0"/>
          </a:xfrm>
          <a:prstGeom prst="line">
            <a:avLst/>
          </a:prstGeom>
          <a:noFill/>
          <a:ln w="12700">
            <a:solidFill>
              <a:srgbClr val="6F7D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41264" y="2423160"/>
            <a:ext cx="384048" cy="384048"/>
          </a:xfrm>
          <a:prstGeom prst="ellipse">
            <a:avLst/>
          </a:prstGeom>
          <a:solidFill>
            <a:srgbClr val="20805D"/>
          </a:solidFill>
          <a:ln w="12700">
            <a:solidFill>
              <a:srgbClr val="2080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2478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41264" y="294436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31536" y="3255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冻结任务级标签视图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98464" y="2615184"/>
            <a:ext cx="960120" cy="0"/>
          </a:xfrm>
          <a:prstGeom prst="line">
            <a:avLst/>
          </a:prstGeom>
          <a:noFill/>
          <a:ln w="12700">
            <a:solidFill>
              <a:srgbClr val="6F7D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68896" y="2423160"/>
            <a:ext cx="384048" cy="384048"/>
          </a:xfrm>
          <a:prstGeom prst="ellipse">
            <a:avLst/>
          </a:prstGeom>
          <a:solidFill>
            <a:srgbClr val="6656A8"/>
          </a:solidFill>
          <a:ln w="12700">
            <a:solidFill>
              <a:srgbClr val="6656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8896" y="2478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68896" y="294436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nnUNet train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59168" y="3255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跑通训练与模型记录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051560" y="416052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172633"/>
          </a:solidFill>
          <a:ln w="10160">
            <a:solidFill>
              <a:srgbClr val="4251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343400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开发落点：adapters/mimics、adapters/label_generation、adapters/nnunet、pipelines/nnunet、scripts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SegmentationPlatform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Segmentation Platform Architecture</dc:title>
  <dc:subject>Medical image segmentation platform architecture</dc:subject>
  <dc:creator>SegmentationPlatform</dc:creator>
  <cp:lastModifiedBy>SegmentationPlatform</cp:lastModifiedBy>
  <cp:revision>1</cp:revision>
  <dcterms:created xsi:type="dcterms:W3CDTF">2026-06-08T11:44:14Z</dcterms:created>
  <dcterms:modified xsi:type="dcterms:W3CDTF">2026-06-08T11:44:14Z</dcterms:modified>
</cp:coreProperties>
</file>